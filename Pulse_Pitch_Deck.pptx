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5600">
                <a:solidFill>
                  <a:srgbClr val="06B6D4"/>
                </a:solidFill>
              </a:defRPr>
            </a:pPr>
            <a:r>
              <a:t>PULSE</a:t>
            </a:r>
          </a:p>
          <a:p>
            <a:pPr>
              <a:spcBef>
                <a:spcPts val="1200"/>
              </a:spcBef>
              <a:defRPr sz="2200">
                <a:solidFill>
                  <a:srgbClr val="F8FAFC"/>
                </a:solidFill>
              </a:defRPr>
            </a:pPr>
            <a:r>
              <a:t>Unified Real-Time Event Intelligence, Cross-Channel Attribution &amp; Predictive Demand Forecasting</a:t>
            </a:r>
          </a:p>
          <a:p>
            <a:pPr>
              <a:spcBef>
                <a:spcPts val="1600"/>
              </a:spcBef>
              <a:defRPr sz="1500">
                <a:solidFill>
                  <a:srgbClr val="94A3B8"/>
                </a:solidFill>
              </a:defRPr>
            </a:pPr>
            <a:r>
              <a:t>Empowering modern product, growth, and RevOps teams to act on customer behavior before it becomes history.</a:t>
            </a:r>
          </a:p>
          <a:p>
            <a:pPr>
              <a:spcBef>
                <a:spcPts val="2800"/>
              </a:spcBef>
              <a:defRPr sz="1200">
                <a:solidFill>
                  <a:srgbClr val="8B5CF6"/>
                </a:solidFill>
              </a:defRPr>
            </a:pPr>
            <a:r>
              <a:t>Presenter: Pulse Engineering Team | Public Open-Source Initiative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06B6D4"/>
                </a:solidFill>
              </a:defRPr>
            </a:pPr>
            <a:r>
              <a:t>THE CRITICAL PROBLEM</a:t>
            </a:r>
          </a:p>
          <a:p>
            <a:pPr>
              <a:defRPr b="1" sz="2800">
                <a:solidFill>
                  <a:srgbClr val="F8FAFC"/>
                </a:solidFill>
              </a:defRPr>
            </a:pPr>
            <a:r>
              <a:t>High Latency &amp; Fragmented Customer Reality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Traditional enterprise data analytics pipelines act as rearview mirrors.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3383280" cy="365760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 rIns="274320"/>
          <a:lstStyle/>
          <a:p>
            <a:pPr algn="ctr">
              <a:defRPr b="1" sz="2400">
                <a:solidFill>
                  <a:srgbClr val="06B6D4"/>
                </a:solidFill>
              </a:defRPr>
            </a:pPr>
            <a:r>
              <a:t>24h - 48h Latency</a:t>
            </a:r>
          </a:p>
          <a:p>
            <a:pPr>
              <a:spcBef>
                <a:spcPts val="800"/>
              </a:spcBef>
              <a:defRPr b="1" sz="1600">
                <a:solidFill>
                  <a:srgbClr val="F8FAFC"/>
                </a:solidFill>
              </a:defRPr>
            </a:pPr>
            <a:r>
              <a:t>Attribution Lag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Marketers make ad allocation decisions based on stale batch ETL jobs, burning 20%+ of marketing budgets on underperforming channels.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286000"/>
            <a:ext cx="3383280" cy="365760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 rIns="274320"/>
          <a:lstStyle/>
          <a:p>
            <a:pPr algn="ctr">
              <a:defRPr b="1" sz="2400">
                <a:solidFill>
                  <a:srgbClr val="10B981"/>
                </a:solidFill>
              </a:defRPr>
            </a:pPr>
            <a:r>
              <a:t>Siloed Tools</a:t>
            </a:r>
          </a:p>
          <a:p>
            <a:pPr>
              <a:spcBef>
                <a:spcPts val="800"/>
              </a:spcBef>
              <a:defRPr b="1" sz="1600">
                <a:solidFill>
                  <a:srgbClr val="F8FAFC"/>
                </a:solidFill>
              </a:defRPr>
            </a:pPr>
            <a:r>
              <a:t>Disjointed Journey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Web traffic (GA4), product events (Mixpanel), and sales pipelines (CRM) live in isolated data silos with no cohesive live correlation.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286000"/>
            <a:ext cx="3383280" cy="365760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 rIns="274320"/>
          <a:lstStyle/>
          <a:p>
            <a:pPr algn="ctr">
              <a:defRPr b="1" sz="2400">
                <a:solidFill>
                  <a:srgbClr val="8B5CF6"/>
                </a:solidFill>
              </a:defRPr>
            </a:pPr>
            <a:r>
              <a:t>Reactive Defense</a:t>
            </a:r>
          </a:p>
          <a:p>
            <a:pPr>
              <a:spcBef>
                <a:spcPts val="800"/>
              </a:spcBef>
              <a:defRPr b="1" sz="1600">
                <a:solidFill>
                  <a:srgbClr val="F8FAFC"/>
                </a:solidFill>
              </a:defRPr>
            </a:pPr>
            <a:r>
              <a:t>Blind Churn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Customer retention interventions occur only after accounts cancel, missing critical 14-day early degradation indicators.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06B6D4"/>
                </a:solidFill>
              </a:defRPr>
            </a:pPr>
            <a:r>
              <a:t>MARKET PERSONAS</a:t>
            </a:r>
          </a:p>
          <a:p>
            <a:pPr>
              <a:defRPr b="1" sz="2800">
                <a:solidFill>
                  <a:srgbClr val="F8FAFC"/>
                </a:solidFill>
              </a:defRPr>
            </a:pPr>
            <a:r>
              <a:t>Who Suffers From This Problem and Why It Matters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Spanning core functional leaders across B2B SaaS, D2C, and Fintech.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5212080" cy="1828800"/>
          </a:xfrm>
          <a:prstGeom prst="roundRect">
            <a:avLst/>
          </a:prstGeom>
          <a:solidFill>
            <a:srgbClr val="13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b="1" sz="1600">
                <a:solidFill>
                  <a:srgbClr val="06B6D4"/>
                </a:solidFill>
              </a:defRPr>
            </a:pPr>
            <a:r>
              <a:t>Growth &amp; Performance Leads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Role: Responsible for $50k-$2M+ monthly ad spend across Meta, Google, TikTok, LinkedIn.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Pain Point: Suffers from inaccurate ROAS and delayed spend reallocations during volatile campaign shifts.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103120"/>
            <a:ext cx="5212080" cy="1828800"/>
          </a:xfrm>
          <a:prstGeom prst="roundRect">
            <a:avLst/>
          </a:prstGeom>
          <a:solidFill>
            <a:srgbClr val="13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b="1" sz="1600">
                <a:solidFill>
                  <a:srgbClr val="06B6D4"/>
                </a:solidFill>
              </a:defRPr>
            </a:pPr>
            <a:r>
              <a:t>Product &amp; Design Teams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Role: Responsible for onboarding conversion and feature activation.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Pain Point: Suffers from delayed visibility into funnel abandonment and UX friction points.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06240"/>
            <a:ext cx="5212080" cy="1828800"/>
          </a:xfrm>
          <a:prstGeom prst="roundRect">
            <a:avLst/>
          </a:prstGeom>
          <a:solidFill>
            <a:srgbClr val="13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b="1" sz="1600">
                <a:solidFill>
                  <a:srgbClr val="06B6D4"/>
                </a:solidFill>
              </a:defRPr>
            </a:pPr>
            <a:r>
              <a:t>RevOps &amp; Executive Leadership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Role: Responsible for Net Revenue Retention (NRR) and ARR forecasting.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Pain Point: Suffers from unexpected customer churn and unpredictable macro demand swings.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206240"/>
            <a:ext cx="5212080" cy="1828800"/>
          </a:xfrm>
          <a:prstGeom prst="roundRect">
            <a:avLst/>
          </a:prstGeom>
          <a:solidFill>
            <a:srgbClr val="13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b="1" sz="1600">
                <a:solidFill>
                  <a:srgbClr val="06B6D4"/>
                </a:solidFill>
              </a:defRPr>
            </a:pPr>
            <a:r>
              <a:t>Platform &amp; Data Engineers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Role: Responsible for telemetry pipelines and warehouse scalability.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Pain Point: Suffers from maintaining fragile batch ETL scripts, high warehouse compute costs, and alert fatigue.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06B6D4"/>
                </a:solidFill>
              </a:defRPr>
            </a:pPr>
            <a:r>
              <a:t>THE SOLUTION</a:t>
            </a:r>
          </a:p>
          <a:p>
            <a:pPr>
              <a:defRPr b="1" sz="2800">
                <a:solidFill>
                  <a:srgbClr val="F8FAFC"/>
                </a:solidFill>
              </a:defRPr>
            </a:pPr>
            <a:r>
              <a:t>Pulse: Next-Gen Event Telemetry &amp; Predictive Analytics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A unified glassmorphic command center transforming telemetry into immediate action.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2560320" cy="3840480"/>
          </a:xfrm>
          <a:prstGeom prst="roundRect">
            <a:avLst/>
          </a:prstGeom>
          <a:solidFill>
            <a:srgbClr val="131A2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 rIns="182880"/>
          <a:lstStyle/>
          <a:p>
            <a:pPr algn="ctr">
              <a:defRPr b="1" sz="2800">
                <a:solidFill>
                  <a:srgbClr val="06B6D4"/>
                </a:solidFill>
              </a:defRPr>
            </a:pPr>
            <a:r>
              <a:t>01</a:t>
            </a:r>
          </a:p>
          <a:p>
            <a:pPr>
              <a:spcBef>
                <a:spcPts val="800"/>
              </a:spcBef>
              <a:defRPr b="1" sz="1500">
                <a:solidFill>
                  <a:srgbClr val="F8FAFC"/>
                </a:solidFill>
              </a:defRPr>
            </a:pPr>
            <a:r>
              <a:t>Live Ingestion &amp; Simulation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High-throughput synthetic event generation capturing views, cart actions, checkout completions, and renewals across 6 channels in real-time.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2286000"/>
            <a:ext cx="2560320" cy="3840480"/>
          </a:xfrm>
          <a:prstGeom prst="roundRect">
            <a:avLst/>
          </a:prstGeom>
          <a:solidFill>
            <a:srgbClr val="131A2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 rIns="182880"/>
          <a:lstStyle/>
          <a:p>
            <a:pPr algn="ctr">
              <a:defRPr b="1" sz="2800">
                <a:solidFill>
                  <a:srgbClr val="06B6D4"/>
                </a:solidFill>
              </a:defRPr>
            </a:pPr>
            <a:r>
              <a:t>02</a:t>
            </a:r>
          </a:p>
          <a:p>
            <a:pPr>
              <a:spcBef>
                <a:spcPts val="800"/>
              </a:spcBef>
              <a:defRPr b="1" sz="1500">
                <a:solidFill>
                  <a:srgbClr val="F8FAFC"/>
                </a:solidFill>
              </a:defRPr>
            </a:pPr>
            <a:r>
              <a:t>Predictive Demand Wave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Fourier-smoothed polynomial projection predicting upcoming 24-hour demand curves with statistical confidence bands.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286000"/>
            <a:ext cx="2560320" cy="3840480"/>
          </a:xfrm>
          <a:prstGeom prst="roundRect">
            <a:avLst/>
          </a:prstGeom>
          <a:solidFill>
            <a:srgbClr val="131A2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 rIns="182880"/>
          <a:lstStyle/>
          <a:p>
            <a:pPr algn="ctr">
              <a:defRPr b="1" sz="2800">
                <a:solidFill>
                  <a:srgbClr val="06B6D4"/>
                </a:solidFill>
              </a:defRPr>
            </a:pPr>
            <a:r>
              <a:t>03</a:t>
            </a:r>
          </a:p>
          <a:p>
            <a:pPr>
              <a:spcBef>
                <a:spcPts val="800"/>
              </a:spcBef>
              <a:defRPr b="1" sz="1500">
                <a:solidFill>
                  <a:srgbClr val="F8FAFC"/>
                </a:solidFill>
              </a:defRPr>
            </a:pPr>
            <a:r>
              <a:t>Dynamic Heatmap Attribution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Multi-touch conversion intensity matrix illuminating high-affinity user segments and channel efficiency.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2286000"/>
            <a:ext cx="2560320" cy="3840480"/>
          </a:xfrm>
          <a:prstGeom prst="roundRect">
            <a:avLst/>
          </a:prstGeom>
          <a:solidFill>
            <a:srgbClr val="131A2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 rIns="182880"/>
          <a:lstStyle/>
          <a:p>
            <a:pPr algn="ctr">
              <a:defRPr b="1" sz="2800">
                <a:solidFill>
                  <a:srgbClr val="06B6D4"/>
                </a:solidFill>
              </a:defRPr>
            </a:pPr>
            <a:r>
              <a:t>04</a:t>
            </a:r>
          </a:p>
          <a:p>
            <a:pPr>
              <a:spcBef>
                <a:spcPts val="800"/>
              </a:spcBef>
              <a:defRPr b="1" sz="1500">
                <a:solidFill>
                  <a:srgbClr val="F8FAFC"/>
                </a:solidFill>
              </a:defRPr>
            </a:pPr>
            <a:r>
              <a:t>Early Churn Radar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Automated customer health scoring tracking declining engagement frequency and negative sentiment shifts.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06B6D4"/>
                </a:solidFill>
              </a:defRPr>
            </a:pPr>
            <a:r>
              <a:t>ARCHITECTURE</a:t>
            </a:r>
          </a:p>
          <a:p>
            <a:pPr>
              <a:defRPr b="1" sz="2800">
                <a:solidFill>
                  <a:srgbClr val="F8FAFC"/>
                </a:solidFill>
              </a:defRPr>
            </a:pPr>
            <a:r>
              <a:t>Built on Modern, High-Performance Web Standards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Engineered for 60fps interactivity, modular scaling, and zero telemetry overhead.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698480" cy="868680"/>
          </a:xfrm>
          <a:prstGeom prst="roundRect">
            <a:avLst/>
          </a:prstGeom>
          <a:solidFill>
            <a:srgbClr val="131A2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b="1" sz="1500">
                <a:solidFill>
                  <a:srgbClr val="10B981"/>
                </a:solidFill>
              </a:defRPr>
            </a:pPr>
            <a:r>
              <a:t>Next.js 16 (Turbopack App Router)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Server-side rendering paired with static optimization for instantaneous route transitions and minimal bundle payloads.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54679"/>
            <a:ext cx="10698480" cy="868680"/>
          </a:xfrm>
          <a:prstGeom prst="roundRect">
            <a:avLst/>
          </a:prstGeom>
          <a:solidFill>
            <a:srgbClr val="131A2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b="1" sz="1500">
                <a:solidFill>
                  <a:srgbClr val="06B6D4"/>
                </a:solidFill>
              </a:defRPr>
            </a:pPr>
            <a:r>
              <a:t>Tailwind CSS v4 &amp; Glassmorphism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Bespoke cyber-aesthetic with backdrop filters, gradient borders, and sleek dark mode ergonomics.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06240"/>
            <a:ext cx="10698480" cy="868680"/>
          </a:xfrm>
          <a:prstGeom prst="roundRect">
            <a:avLst/>
          </a:prstGeom>
          <a:solidFill>
            <a:srgbClr val="131A2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b="1" sz="1500">
                <a:solidFill>
                  <a:srgbClr val="10B981"/>
                </a:solidFill>
              </a:defRPr>
            </a:pPr>
            <a:r>
              <a:t>Zustand &amp; Reactive State Store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Decoupled global state managing high-frequency live events, pause/resume simulation, and user filters without React re-render lag.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57800"/>
            <a:ext cx="10698480" cy="868680"/>
          </a:xfrm>
          <a:prstGeom prst="roundRect">
            <a:avLst/>
          </a:prstGeom>
          <a:solidFill>
            <a:srgbClr val="131A2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b="1" sz="1500">
                <a:solidFill>
                  <a:srgbClr val="06B6D4"/>
                </a:solidFill>
              </a:defRPr>
            </a:pPr>
            <a:r>
              <a:t>Recharts &amp; Framer Motion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Smooth hardware-accelerated charting and fluid transition micro-animations across all analytical views.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06B6D4"/>
                </a:solidFill>
              </a:defRPr>
            </a:pPr>
            <a:r>
              <a:t>MARKET OPPORTUNITY</a:t>
            </a:r>
          </a:p>
          <a:p>
            <a:pPr>
              <a:defRPr b="1" sz="2800">
                <a:solidFill>
                  <a:srgbClr val="F8FAFC"/>
                </a:solidFill>
              </a:defRPr>
            </a:pPr>
            <a:r>
              <a:t>Riding the Wave of Real-Time Data &amp; Modern CDP Sprawl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Consolidating the multi-billion dollar MarTech and Product Analytics sectors.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3383280" cy="34747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20040" rIns="274320"/>
          <a:lstStyle/>
          <a:p>
            <a:pPr algn="ctr">
              <a:defRPr b="1" sz="2800">
                <a:solidFill>
                  <a:srgbClr val="10B981"/>
                </a:solidFill>
              </a:defRPr>
            </a:pPr>
            <a:r>
              <a:t>$32.5 Billion</a:t>
            </a:r>
          </a:p>
          <a:p>
            <a:pPr>
              <a:spcBef>
                <a:spcPts val="800"/>
              </a:spcBef>
              <a:defRPr b="1" sz="1600">
                <a:solidFill>
                  <a:srgbClr val="F8FAFC"/>
                </a:solidFill>
              </a:defRPr>
            </a:pPr>
            <a:r>
              <a:t>Customer Data Platform (CDP)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Projected market size by 2030, growing at 32.4% CAGR as enterprises dump batch ETL.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286000"/>
            <a:ext cx="3383280" cy="34747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20040" rIns="274320"/>
          <a:lstStyle/>
          <a:p>
            <a:pPr algn="ctr">
              <a:defRPr b="1" sz="2800">
                <a:solidFill>
                  <a:srgbClr val="06B6D4"/>
                </a:solidFill>
              </a:defRPr>
            </a:pPr>
            <a:r>
              <a:t>$18.8 Billion</a:t>
            </a:r>
          </a:p>
          <a:p>
            <a:pPr>
              <a:spcBef>
                <a:spcPts val="800"/>
              </a:spcBef>
              <a:defRPr b="1" sz="1600">
                <a:solidFill>
                  <a:srgbClr val="F8FAFC"/>
                </a:solidFill>
              </a:defRPr>
            </a:pPr>
            <a:r>
              <a:t>Product Analytics Market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Demand for real-time behavioural insights over static pageview trackers.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286000"/>
            <a:ext cx="3383280" cy="34747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20040" rIns="274320"/>
          <a:lstStyle/>
          <a:p>
            <a:pPr algn="ctr">
              <a:defRPr b="1" sz="2800">
                <a:solidFill>
                  <a:srgbClr val="06B6D4"/>
                </a:solidFill>
              </a:defRPr>
            </a:pPr>
            <a:r>
              <a:t>400,000+</a:t>
            </a:r>
          </a:p>
          <a:p>
            <a:pPr>
              <a:spcBef>
                <a:spcPts val="800"/>
              </a:spcBef>
              <a:defRPr b="1" sz="1600">
                <a:solidFill>
                  <a:srgbClr val="F8FAFC"/>
                </a:solidFill>
              </a:defRPr>
            </a:pPr>
            <a:r>
              <a:t>Target Growth Companies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High-growth tech businesses actively investing in multi-channel attribution.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06B6D4"/>
                </a:solidFill>
              </a:defRPr>
            </a:pPr>
            <a:r>
              <a:t>BUSINESS MODEL</a:t>
            </a:r>
          </a:p>
          <a:p>
            <a:pPr>
              <a:defRPr b="1" sz="2800">
                <a:solidFill>
                  <a:srgbClr val="F8FAFC"/>
                </a:solidFill>
              </a:defRPr>
            </a:pPr>
            <a:r>
              <a:t>Product-Led Growth (PLG) &amp; Developer Adoption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Open-core strategy designed for rapid bottom-up adoption into enterprise contracts.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3383280" cy="3657600"/>
          </a:xfrm>
          <a:prstGeom prst="roundRect">
            <a:avLst/>
          </a:prstGeom>
          <a:solidFill>
            <a:srgbClr val="131A2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20040" rIns="274320"/>
          <a:lstStyle/>
          <a:p>
            <a:pPr algn="ctr">
              <a:defRPr b="1" sz="2000">
                <a:solidFill>
                  <a:srgbClr val="F8FAFC"/>
                </a:solidFill>
              </a:defRPr>
            </a:pPr>
            <a:r>
              <a:t>Community Edition</a:t>
            </a:r>
          </a:p>
          <a:p>
            <a:pPr>
              <a:spcBef>
                <a:spcPts val="600"/>
              </a:spcBef>
              <a:defRPr b="1" sz="1500">
                <a:solidFill>
                  <a:srgbClr val="10B981"/>
                </a:solidFill>
              </a:defRPr>
            </a:pPr>
            <a:r>
              <a:t>$0 / Free &amp; Open Source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Self-hosted Next.js dashboard, standard real-time simulation engine, local data persistence, unlimited dashboard views.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286000"/>
            <a:ext cx="3383280" cy="365760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20040" rIns="274320"/>
          <a:lstStyle/>
          <a:p>
            <a:pPr algn="ctr">
              <a:defRPr b="1" sz="2000">
                <a:solidFill>
                  <a:srgbClr val="06B6D4"/>
                </a:solidFill>
              </a:defRPr>
            </a:pPr>
            <a:r>
              <a:t>Pro Cloud</a:t>
            </a:r>
          </a:p>
          <a:p>
            <a:pPr>
              <a:spcBef>
                <a:spcPts val="600"/>
              </a:spcBef>
              <a:defRPr b="1" sz="1500">
                <a:solidFill>
                  <a:srgbClr val="10B981"/>
                </a:solidFill>
              </a:defRPr>
            </a:pPr>
            <a:r>
              <a:t>$199 / month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Managed live ingestion API, multi-channel webhook connectors (Stripe, Segment, Meta Ads), 90-day retention, real-time Slack/Discord alerts.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286000"/>
            <a:ext cx="3383280" cy="3657600"/>
          </a:xfrm>
          <a:prstGeom prst="roundRect">
            <a:avLst/>
          </a:prstGeom>
          <a:solidFill>
            <a:srgbClr val="131A2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20040" rIns="274320"/>
          <a:lstStyle/>
          <a:p>
            <a:pPr algn="ctr">
              <a:defRPr b="1" sz="2000">
                <a:solidFill>
                  <a:srgbClr val="F8FAFC"/>
                </a:solidFill>
              </a:defRPr>
            </a:pPr>
            <a:r>
              <a:t>Enterprise Cluster</a:t>
            </a:r>
          </a:p>
          <a:p>
            <a:pPr>
              <a:spcBef>
                <a:spcPts val="600"/>
              </a:spcBef>
              <a:defRPr b="1" sz="1500">
                <a:solidFill>
                  <a:srgbClr val="10B981"/>
                </a:solidFill>
              </a:defRPr>
            </a:pPr>
            <a:r>
              <a:t>Custom ARR ($25k+)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Dedicated stream processors, custom predictive ML models, SSO/SAML, SOC2 compliance, private cloud deployment (AWS, GCP, Azure).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06B6D4"/>
                </a:solidFill>
              </a:defRPr>
            </a:pPr>
            <a:r>
              <a:t>ROADMAP</a:t>
            </a:r>
          </a:p>
          <a:p>
            <a:pPr>
              <a:defRPr b="1" sz="2800">
                <a:solidFill>
                  <a:srgbClr val="F8FAFC"/>
                </a:solidFill>
              </a:defRPr>
            </a:pPr>
            <a:r>
              <a:t>Executing Toward Autonomous Event Intelligence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From real-time visualization to closed-loop automated marketing orchestration.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698480" cy="86868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b="1" sz="1500">
                <a:solidFill>
                  <a:srgbClr val="10B981"/>
                </a:solidFill>
              </a:defRPr>
            </a:pPr>
            <a:r>
              <a:t>Phase 1: Foundation (Delivered)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Interactive multi-page dashboard, synthetic streaming engine, predictive demand curves, and attribution heatmaps.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54679"/>
            <a:ext cx="10698480" cy="868680"/>
          </a:xfrm>
          <a:prstGeom prst="roundRect">
            <a:avLst/>
          </a:prstGeom>
          <a:solidFill>
            <a:srgbClr val="131A2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b="1" sz="1500">
                <a:solidFill>
                  <a:srgbClr val="F8FAFC"/>
                </a:solidFill>
              </a:defRPr>
            </a:pPr>
            <a:r>
              <a:t>Phase 2: Ingestion Connectors (Q2 2026)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Native webhooks for Segment, Snowplow, PostHog, Stripe, and Meta Conversions API.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06240"/>
            <a:ext cx="10698480" cy="868680"/>
          </a:xfrm>
          <a:prstGeom prst="roundRect">
            <a:avLst/>
          </a:prstGeom>
          <a:solidFill>
            <a:srgbClr val="131A2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b="1" sz="1500">
                <a:solidFill>
                  <a:srgbClr val="F8FAFC"/>
                </a:solidFill>
              </a:defRPr>
            </a:pPr>
            <a:r>
              <a:t>Phase 3: AI Copilot &amp; Anomaly Alerts (Q3 2026)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Agentic natural-language queries ('Why did TikTok conversions drop 18%?') and automated causal diagnosis.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57800"/>
            <a:ext cx="10698480" cy="868680"/>
          </a:xfrm>
          <a:prstGeom prst="roundRect">
            <a:avLst/>
          </a:prstGeom>
          <a:solidFill>
            <a:srgbClr val="131A2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b="1" sz="1500">
                <a:solidFill>
                  <a:srgbClr val="F8FAFC"/>
                </a:solidFill>
              </a:defRPr>
            </a:pPr>
            <a:r>
              <a:t>Phase 4: Closed-Loop Orchestration (Q4 2026)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Automated budget shifting algorithms that autonomously re-route ad spend toward peak-performing demand channels.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06B6D4"/>
                </a:solidFill>
              </a:defRPr>
            </a:pPr>
            <a:r>
              <a:t>Experience the Live Pulse Engine</a:t>
            </a:r>
          </a:p>
          <a:p>
            <a:pPr>
              <a:spcBef>
                <a:spcPts val="1200"/>
              </a:spcBef>
              <a:defRPr sz="2000">
                <a:solidFill>
                  <a:srgbClr val="F8FAFC"/>
                </a:solidFill>
              </a:defRPr>
            </a:pPr>
            <a:r>
              <a:t>The code is fully open-source and ready for production deployment.</a:t>
            </a:r>
          </a:p>
          <a:p>
            <a:pPr>
              <a:spcBef>
                <a:spcPts val="2400"/>
              </a:spcBef>
              <a:defRPr sz="1600">
                <a:solidFill>
                  <a:srgbClr val="94A3B8"/>
                </a:solidFill>
              </a:defRPr>
            </a:pPr>
            <a:r>
              <a:t>• Live Dashboard: http://localhost:3000</a:t>
            </a:r>
            <a:br/>
            <a:r>
              <a:t>• GitHub: https://github.com/Meera2926/pulse-dashboard</a:t>
            </a:r>
            <a:br/>
            <a:r>
              <a:t>• Documentation: See README.md, DEPLOYMENT.md, and PROBLEM_STATEMENT.md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